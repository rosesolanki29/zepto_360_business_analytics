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73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7.png"/><Relationship Id="rId4" Type="http://schemas.openxmlformats.org/officeDocument/2006/relationships/image" Target="../media/image10.png"/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.png"/><Relationship Id="rId3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7.png"/><Relationship Id="rId3" Type="http://schemas.openxmlformats.org/officeDocument/2006/relationships/image" Target="../media/image20.png"/><Relationship Id="rId2" Type="http://schemas.openxmlformats.org/officeDocument/2006/relationships/image" Target="../media/image8.png"/><Relationship Id="rId1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4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6.png"/><Relationship Id="rId3" Type="http://schemas.openxmlformats.org/officeDocument/2006/relationships/image" Target="../media/image3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4.png"/><Relationship Id="rId2" Type="http://schemas.openxmlformats.org/officeDocument/2006/relationships/image" Target="../media/image21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4.png"/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image" Target="../media/image25.png"/><Relationship Id="rId3" Type="http://schemas.openxmlformats.org/officeDocument/2006/relationships/tags" Target="../tags/tag3.xml"/><Relationship Id="rId20" Type="http://schemas.openxmlformats.org/officeDocument/2006/relationships/notesSlide" Target="../notesSlides/notesSlide17.xml"/><Relationship Id="rId2" Type="http://schemas.openxmlformats.org/officeDocument/2006/relationships/tags" Target="../tags/tag2.xml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.xml"/><Relationship Id="rId17" Type="http://schemas.openxmlformats.org/officeDocument/2006/relationships/tags" Target="../tags/tag14.xml"/><Relationship Id="rId16" Type="http://schemas.openxmlformats.org/officeDocument/2006/relationships/image" Target="../media/image27.png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image" Target="../media/image26.png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828800"/>
            <a:ext cx="8229600" cy="8229600"/>
          </a:xfrm>
          <a:prstGeom prst="ellipse">
            <a:avLst/>
          </a:prstGeom>
          <a:solidFill>
            <a:srgbClr val="5B21B6">
              <a:alpha val="17000"/>
            </a:srgbClr>
          </a:solidFill>
          <a:ln w="12700">
            <a:solidFill>
              <a:srgbClr val="5B21B6">
                <a:alpha val="17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2743200"/>
            <a:ext cx="5029200" cy="50292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3200400"/>
            <a:ext cx="3200400" cy="3200400"/>
          </a:xfrm>
          <a:prstGeom prst="ellipse">
            <a:avLst/>
          </a:prstGeom>
          <a:solidFill>
            <a:srgbClr val="DB2777">
              <a:alpha val="7000"/>
            </a:srgbClr>
          </a:solidFill>
          <a:ln w="12700">
            <a:solidFill>
              <a:srgbClr val="DB2777">
                <a:alpha val="7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4592"/>
            <a:ext cx="594360" cy="5943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88366"/>
            <a:ext cx="594360" cy="523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1110996" y="164592"/>
            <a:ext cx="1901952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1005840"/>
            <a:ext cx="2194560" cy="274320"/>
          </a:xfrm>
          <a:prstGeom prst="rect">
            <a:avLst/>
          </a:prstGeom>
          <a:solidFill>
            <a:srgbClr val="7C3AED">
              <a:alpha val="55000"/>
            </a:srgbClr>
          </a:solidFill>
          <a:ln w="7620">
            <a:solidFill>
              <a:srgbClr val="A78B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014984"/>
            <a:ext cx="219456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⚡  Business Analytics  ·  Power BI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57200" y="1417320"/>
            <a:ext cx="8229600" cy="1143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 360°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A78BF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Business Analytics Dashboard</a:t>
            </a:r>
            <a:endParaRPr lang="en-US" sz="2600" dirty="0"/>
          </a:p>
        </p:txBody>
      </p:sp>
      <p:sp>
        <p:nvSpPr>
          <p:cNvPr id="13" name="Shape 11"/>
          <p:cNvSpPr/>
          <p:nvPr/>
        </p:nvSpPr>
        <p:spPr>
          <a:xfrm>
            <a:off x="457200" y="3273552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42900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· Customer · Product · Delivery Performance Analysis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858768"/>
            <a:ext cx="526694" cy="256032"/>
          </a:xfrm>
          <a:prstGeom prst="rect">
            <a:avLst/>
          </a:prstGeom>
          <a:solidFill>
            <a:srgbClr val="2D1B69">
              <a:alpha val="8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867912"/>
            <a:ext cx="5266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075334" y="3858768"/>
            <a:ext cx="694944" cy="256032"/>
          </a:xfrm>
          <a:prstGeom prst="rect">
            <a:avLst/>
          </a:prstGeom>
          <a:solidFill>
            <a:srgbClr val="2D1B69">
              <a:alpha val="8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5334" y="3867912"/>
            <a:ext cx="69494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861718" y="3858768"/>
            <a:ext cx="947318" cy="256032"/>
          </a:xfrm>
          <a:prstGeom prst="rect">
            <a:avLst/>
          </a:prstGeom>
          <a:solidFill>
            <a:srgbClr val="2D1B69">
              <a:alpha val="8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61718" y="3867912"/>
            <a:ext cx="94731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 BI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900477" y="3858768"/>
            <a:ext cx="526694" cy="256032"/>
          </a:xfrm>
          <a:prstGeom prst="rect">
            <a:avLst/>
          </a:prstGeom>
          <a:solidFill>
            <a:srgbClr val="2D1B69">
              <a:alpha val="8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900477" y="3867912"/>
            <a:ext cx="526694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DAX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3518611" y="3858768"/>
            <a:ext cx="1367942" cy="256032"/>
          </a:xfrm>
          <a:prstGeom prst="rect">
            <a:avLst/>
          </a:prstGeom>
          <a:solidFill>
            <a:srgbClr val="2D1B69">
              <a:alpha val="8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8611" y="3867912"/>
            <a:ext cx="136794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77994" y="3858768"/>
            <a:ext cx="2040941" cy="256032"/>
          </a:xfrm>
          <a:prstGeom prst="rect">
            <a:avLst/>
          </a:prstGeom>
          <a:solidFill>
            <a:srgbClr val="2D1B69">
              <a:alpha val="82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77994" y="3867912"/>
            <a:ext cx="2040941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Intelligence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4764024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End-to-End Analytics  ·  SQL  +  Power BI  +  DAX  ·  Portfolio Project  ·  2024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Overview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2296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End-to-End Analytics Workflow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024128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raw operational data to actionable business intelligence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" y="1444752"/>
            <a:ext cx="896112" cy="8961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127000" dist="25400" dir="8100000" algn="bl" rotWithShape="0">
              <a:srgbClr val="5B21B6">
                <a:alpha val="2200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554480"/>
            <a:ext cx="676656" cy="67665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31520" y="1389888"/>
            <a:ext cx="256032" cy="256032"/>
          </a:xfrm>
          <a:prstGeom prst="ellipse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" y="1408176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384048" y="2487168"/>
            <a:ext cx="1609344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84048" y="2487168"/>
            <a:ext cx="45720" cy="13716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75488" y="254203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Raw Data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283464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business tables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from Zepto ops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048256" y="1737360"/>
            <a:ext cx="1645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4B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20" name="Shape 17"/>
          <p:cNvSpPr/>
          <p:nvPr/>
        </p:nvSpPr>
        <p:spPr>
          <a:xfrm>
            <a:off x="2496312" y="1444752"/>
            <a:ext cx="896112" cy="8961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  <a:effectLst>
            <a:outerShdw blurRad="127000" dist="25400" dir="8100000" algn="bl" rotWithShape="0">
              <a:srgbClr val="7C3AED">
                <a:alpha val="22000"/>
              </a:srgbClr>
            </a:outerShdw>
          </a:effectLst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6040" y="1554480"/>
            <a:ext cx="676656" cy="676656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2441448" y="1389888"/>
            <a:ext cx="256032" cy="256032"/>
          </a:xfrm>
          <a:prstGeom prst="ellipse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2441448" y="1408176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800" dirty="0"/>
          </a:p>
        </p:txBody>
      </p:sp>
      <p:sp>
        <p:nvSpPr>
          <p:cNvPr id="24" name="Shape 20"/>
          <p:cNvSpPr/>
          <p:nvPr/>
        </p:nvSpPr>
        <p:spPr>
          <a:xfrm>
            <a:off x="2093976" y="2487168"/>
            <a:ext cx="1609344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2093976" y="2487168"/>
            <a:ext cx="45720" cy="1371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2185416" y="254203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SQL Cleaning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2167128" y="283464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Null handling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Dedup &amp; normalise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3758184" y="1737360"/>
            <a:ext cx="1645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4B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29" name="Shape 25"/>
          <p:cNvSpPr/>
          <p:nvPr/>
        </p:nvSpPr>
        <p:spPr>
          <a:xfrm>
            <a:off x="4206240" y="1444752"/>
            <a:ext cx="896112" cy="8961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27000" dist="25400" dir="8100000" algn="bl" rotWithShape="0">
              <a:srgbClr val="0891B2">
                <a:alpha val="22000"/>
              </a:srgbClr>
            </a:outerShdw>
          </a:effectLst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5968" y="1554480"/>
            <a:ext cx="676656" cy="676656"/>
          </a:xfrm>
          <a:prstGeom prst="rect">
            <a:avLst/>
          </a:prstGeom>
        </p:spPr>
      </p:pic>
      <p:sp>
        <p:nvSpPr>
          <p:cNvPr id="31" name="Shape 26"/>
          <p:cNvSpPr/>
          <p:nvPr/>
        </p:nvSpPr>
        <p:spPr>
          <a:xfrm>
            <a:off x="4151376" y="1389888"/>
            <a:ext cx="256032" cy="256032"/>
          </a:xfrm>
          <a:prstGeom prst="ellipse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151376" y="1408176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3803904" y="2487168"/>
            <a:ext cx="1609344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3803904" y="2487168"/>
            <a:ext cx="4572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3895344" y="254203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Modeling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3877056" y="283464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Star schema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DAX measures</a:t>
            </a:r>
            <a:endParaRPr lang="en-US" sz="900" dirty="0"/>
          </a:p>
        </p:txBody>
      </p:sp>
      <p:sp>
        <p:nvSpPr>
          <p:cNvPr id="37" name="Text 32"/>
          <p:cNvSpPr/>
          <p:nvPr/>
        </p:nvSpPr>
        <p:spPr>
          <a:xfrm>
            <a:off x="5468112" y="1737360"/>
            <a:ext cx="1645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4B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38" name="Shape 33"/>
          <p:cNvSpPr/>
          <p:nvPr/>
        </p:nvSpPr>
        <p:spPr>
          <a:xfrm>
            <a:off x="5916168" y="1444752"/>
            <a:ext cx="896112" cy="8961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  <a:effectLst>
            <a:outerShdw blurRad="127000" dist="25400" dir="8100000" algn="bl" rotWithShape="0">
              <a:srgbClr val="D97706">
                <a:alpha val="22000"/>
              </a:srgbClr>
            </a:outerShdw>
          </a:effectLst>
        </p:spPr>
      </p:sp>
      <p:pic>
        <p:nvPicPr>
          <p:cNvPr id="3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896" y="1554480"/>
            <a:ext cx="676656" cy="676656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5861304" y="1389888"/>
            <a:ext cx="256032" cy="256032"/>
          </a:xfrm>
          <a:prstGeom prst="ellipse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5861304" y="1408176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800" dirty="0"/>
          </a:p>
        </p:txBody>
      </p:sp>
      <p:sp>
        <p:nvSpPr>
          <p:cNvPr id="42" name="Shape 36"/>
          <p:cNvSpPr/>
          <p:nvPr/>
        </p:nvSpPr>
        <p:spPr>
          <a:xfrm>
            <a:off x="5513832" y="2487168"/>
            <a:ext cx="1609344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5513832" y="2487168"/>
            <a:ext cx="45720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605272" y="254203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</a:t>
            </a:r>
            <a:endParaRPr lang="en-US" sz="1100" dirty="0"/>
          </a:p>
        </p:txBody>
      </p:sp>
      <p:sp>
        <p:nvSpPr>
          <p:cNvPr id="45" name="Text 39"/>
          <p:cNvSpPr/>
          <p:nvPr/>
        </p:nvSpPr>
        <p:spPr>
          <a:xfrm>
            <a:off x="5586984" y="283464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dashboards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Interactive reports</a:t>
            </a:r>
            <a:endParaRPr lang="en-US" sz="900" dirty="0"/>
          </a:p>
        </p:txBody>
      </p:sp>
      <p:sp>
        <p:nvSpPr>
          <p:cNvPr id="46" name="Text 40"/>
          <p:cNvSpPr/>
          <p:nvPr/>
        </p:nvSpPr>
        <p:spPr>
          <a:xfrm>
            <a:off x="7178040" y="1737360"/>
            <a:ext cx="16459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C4B5FD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›</a:t>
            </a:r>
            <a:endParaRPr lang="en-US" sz="2000" dirty="0"/>
          </a:p>
        </p:txBody>
      </p:sp>
      <p:sp>
        <p:nvSpPr>
          <p:cNvPr id="47" name="Shape 41"/>
          <p:cNvSpPr/>
          <p:nvPr/>
        </p:nvSpPr>
        <p:spPr>
          <a:xfrm>
            <a:off x="7626096" y="1444752"/>
            <a:ext cx="896112" cy="896112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  <a:effectLst>
            <a:outerShdw blurRad="127000" dist="25400" dir="8100000" algn="bl" rotWithShape="0">
              <a:srgbClr val="DB2777">
                <a:alpha val="22000"/>
              </a:srgbClr>
            </a:outerShdw>
          </a:effectLst>
        </p:spPr>
      </p:sp>
      <p:pic>
        <p:nvPicPr>
          <p:cNvPr id="4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5824" y="1554480"/>
            <a:ext cx="676656" cy="676656"/>
          </a:xfrm>
          <a:prstGeom prst="rect">
            <a:avLst/>
          </a:prstGeom>
        </p:spPr>
      </p:pic>
      <p:sp>
        <p:nvSpPr>
          <p:cNvPr id="49" name="Shape 42"/>
          <p:cNvSpPr/>
          <p:nvPr/>
        </p:nvSpPr>
        <p:spPr>
          <a:xfrm>
            <a:off x="7571232" y="1389888"/>
            <a:ext cx="256032" cy="256032"/>
          </a:xfrm>
          <a:prstGeom prst="ellipse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sp>
        <p:nvSpPr>
          <p:cNvPr id="50" name="Text 43"/>
          <p:cNvSpPr/>
          <p:nvPr/>
        </p:nvSpPr>
        <p:spPr>
          <a:xfrm>
            <a:off x="7571232" y="1408176"/>
            <a:ext cx="256032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</a:t>
            </a:r>
            <a:endParaRPr lang="en-US" sz="800" dirty="0"/>
          </a:p>
        </p:txBody>
      </p:sp>
      <p:sp>
        <p:nvSpPr>
          <p:cNvPr id="51" name="Shape 44"/>
          <p:cNvSpPr/>
          <p:nvPr/>
        </p:nvSpPr>
        <p:spPr>
          <a:xfrm>
            <a:off x="7223760" y="2487168"/>
            <a:ext cx="1609344" cy="13716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2" name="Shape 45"/>
          <p:cNvSpPr/>
          <p:nvPr/>
        </p:nvSpPr>
        <p:spPr>
          <a:xfrm>
            <a:off x="7223760" y="2487168"/>
            <a:ext cx="45720" cy="137160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46"/>
          <p:cNvSpPr/>
          <p:nvPr/>
        </p:nvSpPr>
        <p:spPr>
          <a:xfrm>
            <a:off x="7315200" y="2542032"/>
            <a:ext cx="1426464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Insights</a:t>
            </a:r>
            <a:endParaRPr lang="en-US" sz="1100" dirty="0"/>
          </a:p>
        </p:txBody>
      </p:sp>
      <p:sp>
        <p:nvSpPr>
          <p:cNvPr id="54" name="Text 47"/>
          <p:cNvSpPr/>
          <p:nvPr/>
        </p:nvSpPr>
        <p:spPr>
          <a:xfrm>
            <a:off x="7296912" y="2834640"/>
            <a:ext cx="1463040" cy="7772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Strategic recs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decisions</a:t>
            </a:r>
            <a:endParaRPr lang="en-US" sz="900" dirty="0"/>
          </a:p>
        </p:txBody>
      </p:sp>
      <p:sp>
        <p:nvSpPr>
          <p:cNvPr id="55" name="Shape 48"/>
          <p:cNvSpPr/>
          <p:nvPr/>
        </p:nvSpPr>
        <p:spPr>
          <a:xfrm>
            <a:off x="384048" y="4005072"/>
            <a:ext cx="8394192" cy="62179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6" name="Shape 49"/>
          <p:cNvSpPr/>
          <p:nvPr/>
        </p:nvSpPr>
        <p:spPr>
          <a:xfrm>
            <a:off x="384048" y="4005072"/>
            <a:ext cx="45720" cy="621792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566928" y="4041648"/>
            <a:ext cx="804672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F0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This project transforms raw Zepto transactional data into a fully interactive Power BI analytics suite — covering Sales, Customers, Products, Orders &amp; Deliveries — enabling data-driven decisions at every level of the organisation.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Project Objectives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What We Set Out to Achieve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4048" y="1170432"/>
            <a:ext cx="2724912" cy="1600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170432"/>
            <a:ext cx="45720" cy="160020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1261872"/>
            <a:ext cx="530352" cy="53035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325880"/>
            <a:ext cx="402336" cy="40233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133856" y="1225296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Sales Performance Analysis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493776" y="1783080"/>
            <a:ext cx="25420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 revenue trends, growth periods, and category-level sales performance across all markets.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36976" y="1170432"/>
            <a:ext cx="2724912" cy="1600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3236976" y="1170432"/>
            <a:ext cx="45720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64992" y="1261872"/>
            <a:ext cx="530352" cy="53035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325880"/>
            <a:ext cx="402336" cy="40233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986784" y="1225296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Customer Behaviour Insights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3346704" y="1783080"/>
            <a:ext cx="25420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Segment customers, analyse spending patterns, measure LTV and identify high-value cohorts.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089904" y="1170432"/>
            <a:ext cx="2724912" cy="160020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89904" y="1170432"/>
            <a:ext cx="45720" cy="16002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17920" y="1261872"/>
            <a:ext cx="530352" cy="53035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839712" y="1225296"/>
            <a:ext cx="190195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Delivery Performance Monitoring</a:t>
            </a:r>
            <a:endParaRPr lang="en-US" sz="1050" dirty="0"/>
          </a:p>
        </p:txBody>
      </p:sp>
      <p:sp>
        <p:nvSpPr>
          <p:cNvPr id="27" name="Text 22"/>
          <p:cNvSpPr/>
          <p:nvPr/>
        </p:nvSpPr>
        <p:spPr>
          <a:xfrm>
            <a:off x="6199632" y="1783080"/>
            <a:ext cx="2542032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delivery times, on-time rates, distance correlations and route bottlenecks.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384048" y="2907792"/>
            <a:ext cx="4041648" cy="16276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384048" y="2907792"/>
            <a:ext cx="45720" cy="16276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12064" y="2999232"/>
            <a:ext cx="530352" cy="53035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063240"/>
            <a:ext cx="402336" cy="402336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133856" y="2962656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Product Trend Evaluation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493776" y="3364992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Identify top products by revenue &amp; ratings, analyse category performance over time.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4663440" y="2907792"/>
            <a:ext cx="4041648" cy="16276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29"/>
          <p:cNvSpPr/>
          <p:nvPr/>
        </p:nvSpPr>
        <p:spPr>
          <a:xfrm>
            <a:off x="4663440" y="2907792"/>
            <a:ext cx="45720" cy="16276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4791456" y="2999232"/>
            <a:ext cx="530352" cy="530352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5464" y="3063240"/>
            <a:ext cx="402336" cy="402336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5413248" y="2962656"/>
            <a:ext cx="3200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Actionable Business Insights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4773168" y="3364992"/>
            <a:ext cx="384048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Convert data into strategic recommendations that drive measurable operational improvements.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Problem Statement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566928"/>
            <a:ext cx="3520440" cy="4325112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5B21B6">
              <a:alpha val="15000"/>
            </a:srgbClr>
          </a:solidFill>
          <a:ln w="12700">
            <a:solidFill>
              <a:srgbClr val="5B21B6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371600" y="-457200"/>
            <a:ext cx="2286000" cy="2286000"/>
          </a:xfrm>
          <a:prstGeom prst="ellipse">
            <a:avLst/>
          </a:prstGeom>
          <a:solidFill>
            <a:srgbClr val="A78BFA">
              <a:alpha val="10000"/>
            </a:srgbClr>
          </a:solidFill>
          <a:ln w="12700">
            <a:solidFill>
              <a:srgbClr val="A78BFA">
                <a:alpha val="1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2880" y="822960"/>
            <a:ext cx="315468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Business</a:t>
            </a:r>
            <a:endParaRPr lang="en-US" sz="2200" dirty="0"/>
          </a:p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Challenges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2880" y="1755648"/>
            <a:ext cx="31546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pain points demanding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centralised analytics solution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" y="2423160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10M+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82880" y="2761488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transactions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82880" y="3099816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6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2880" y="3438144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Siloed data tables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" y="3776472"/>
            <a:ext cx="315468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A78BFA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48 hrs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82880" y="4114800"/>
            <a:ext cx="3154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report delay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703320" y="658368"/>
            <a:ext cx="516636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03320" y="658368"/>
            <a:ext cx="45720" cy="86868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94760" y="859536"/>
            <a:ext cx="457200" cy="457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94760" y="905256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343400" y="731520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Massive Operational Datasets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343400" y="996696"/>
            <a:ext cx="44074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Millions of rows across orders, deliveries and transactions make manual analysis impossible at scale.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03320" y="1645920"/>
            <a:ext cx="516636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703320" y="1645920"/>
            <a:ext cx="4572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794760" y="1847088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892808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343400" y="1719072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No Centralised Reporting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43400" y="1984248"/>
            <a:ext cx="44074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 scattered across spreadsheets with no single source of truth for leadership decisions.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703320" y="2633472"/>
            <a:ext cx="516636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703320" y="2633472"/>
            <a:ext cx="45720" cy="8686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94760" y="2834640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94760" y="2880360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343400" y="2706624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Hidden Delivery Inefficiencies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343400" y="2971800"/>
            <a:ext cx="44074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33,947 late deliveries invisible without real-time monitoring — representing 73% of all deliveries.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703320" y="3621024"/>
            <a:ext cx="5166360" cy="8686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3703320" y="3621024"/>
            <a:ext cx="45720" cy="868680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794760" y="3822192"/>
            <a:ext cx="457200" cy="4572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94760" y="3867912"/>
            <a:ext cx="457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343400" y="3694176"/>
            <a:ext cx="44074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Decision-Making Without Data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343400" y="3959352"/>
            <a:ext cx="4407408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Without BI, teams rely on intuition over evidence — missing revenue and retention opportunities.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Dataset Overview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6 Core Data Tables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005840"/>
            <a:ext cx="73152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Zepto's relational data ecosystem powering the 360° analytics suite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353312"/>
            <a:ext cx="2724912" cy="15727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353312"/>
            <a:ext cx="45720" cy="15727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2064" y="1481328"/>
            <a:ext cx="548640" cy="5486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545336"/>
            <a:ext cx="420624" cy="42062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61288" y="1444752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161288" y="1719072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~50K records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93776" y="2103120"/>
            <a:ext cx="25420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customer_id · name · city · segment · join_date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236976" y="1353312"/>
            <a:ext cx="2724912" cy="15727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36976" y="1353312"/>
            <a:ext cx="45720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64992" y="1481328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545336"/>
            <a:ext cx="420624" cy="42062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014216" y="1444752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Orders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014216" y="1719072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7C3AE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~500K records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3346704" y="2103120"/>
            <a:ext cx="25420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order_id · customer_id · date · status · total</a:t>
            </a:r>
            <a:endParaRPr lang="en-US" sz="850" dirty="0"/>
          </a:p>
        </p:txBody>
      </p:sp>
      <p:sp>
        <p:nvSpPr>
          <p:cNvPr id="25" name="Shape 21"/>
          <p:cNvSpPr/>
          <p:nvPr/>
        </p:nvSpPr>
        <p:spPr>
          <a:xfrm>
            <a:off x="6089904" y="1353312"/>
            <a:ext cx="2724912" cy="15727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89904" y="1353312"/>
            <a:ext cx="45720" cy="15727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217920" y="1481328"/>
            <a:ext cx="548640" cy="5486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545336"/>
            <a:ext cx="420624" cy="420624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67144" y="1444752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Products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6867144" y="1719072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~10K records</a:t>
            </a:r>
            <a:endParaRPr lang="en-US" sz="950" dirty="0"/>
          </a:p>
        </p:txBody>
      </p:sp>
      <p:sp>
        <p:nvSpPr>
          <p:cNvPr id="31" name="Text 26"/>
          <p:cNvSpPr/>
          <p:nvPr/>
        </p:nvSpPr>
        <p:spPr>
          <a:xfrm>
            <a:off x="6199632" y="2103120"/>
            <a:ext cx="25420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product_id · name · category · price · stock</a:t>
            </a:r>
            <a:endParaRPr lang="en-US" sz="850" dirty="0"/>
          </a:p>
        </p:txBody>
      </p:sp>
      <p:sp>
        <p:nvSpPr>
          <p:cNvPr id="32" name="Shape 27"/>
          <p:cNvSpPr/>
          <p:nvPr/>
        </p:nvSpPr>
        <p:spPr>
          <a:xfrm>
            <a:off x="384048" y="3090672"/>
            <a:ext cx="2724912" cy="15727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384048" y="3090672"/>
            <a:ext cx="45720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512064" y="3218688"/>
            <a:ext cx="548640" cy="5486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282696"/>
            <a:ext cx="420624" cy="420624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161288" y="3182112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Transactions</a:t>
            </a:r>
            <a:endParaRPr lang="en-US" sz="1200" dirty="0"/>
          </a:p>
        </p:txBody>
      </p:sp>
      <p:sp>
        <p:nvSpPr>
          <p:cNvPr id="37" name="Text 31"/>
          <p:cNvSpPr/>
          <p:nvPr/>
        </p:nvSpPr>
        <p:spPr>
          <a:xfrm>
            <a:off x="1161288" y="3456432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~500K records</a:t>
            </a:r>
            <a:endParaRPr lang="en-US" sz="950" dirty="0"/>
          </a:p>
        </p:txBody>
      </p:sp>
      <p:sp>
        <p:nvSpPr>
          <p:cNvPr id="38" name="Text 32"/>
          <p:cNvSpPr/>
          <p:nvPr/>
        </p:nvSpPr>
        <p:spPr>
          <a:xfrm>
            <a:off x="493776" y="3840480"/>
            <a:ext cx="25420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txn_id · order_id · amount · payment_method</a:t>
            </a:r>
            <a:endParaRPr lang="en-US" sz="850" dirty="0"/>
          </a:p>
        </p:txBody>
      </p:sp>
      <p:sp>
        <p:nvSpPr>
          <p:cNvPr id="39" name="Shape 33"/>
          <p:cNvSpPr/>
          <p:nvPr/>
        </p:nvSpPr>
        <p:spPr>
          <a:xfrm>
            <a:off x="3236976" y="3090672"/>
            <a:ext cx="2724912" cy="15727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3236976" y="3090672"/>
            <a:ext cx="45720" cy="15727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3364992" y="3218688"/>
            <a:ext cx="548640" cy="5486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29000" y="3282696"/>
            <a:ext cx="420624" cy="42062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4014216" y="3182112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Delivery</a:t>
            </a:r>
            <a:endParaRPr lang="en-US" sz="1200" dirty="0"/>
          </a:p>
        </p:txBody>
      </p:sp>
      <p:sp>
        <p:nvSpPr>
          <p:cNvPr id="44" name="Text 37"/>
          <p:cNvSpPr/>
          <p:nvPr/>
        </p:nvSpPr>
        <p:spPr>
          <a:xfrm>
            <a:off x="4014216" y="3456432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B27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~500K records</a:t>
            </a:r>
            <a:endParaRPr lang="en-US" sz="950" dirty="0"/>
          </a:p>
        </p:txBody>
      </p:sp>
      <p:sp>
        <p:nvSpPr>
          <p:cNvPr id="45" name="Text 38"/>
          <p:cNvSpPr/>
          <p:nvPr/>
        </p:nvSpPr>
        <p:spPr>
          <a:xfrm>
            <a:off x="3346704" y="3840480"/>
            <a:ext cx="25420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delivery_id · order_id · time_mins · distance · status</a:t>
            </a:r>
            <a:endParaRPr lang="en-US" sz="850" dirty="0"/>
          </a:p>
        </p:txBody>
      </p:sp>
      <p:sp>
        <p:nvSpPr>
          <p:cNvPr id="46" name="Shape 39"/>
          <p:cNvSpPr/>
          <p:nvPr/>
        </p:nvSpPr>
        <p:spPr>
          <a:xfrm>
            <a:off x="6089904" y="3090672"/>
            <a:ext cx="2724912" cy="15727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6089904" y="3090672"/>
            <a:ext cx="45720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>
            <a:off x="6217920" y="3218688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49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282696"/>
            <a:ext cx="420624" cy="420624"/>
          </a:xfrm>
          <a:prstGeom prst="rect">
            <a:avLst/>
          </a:prstGeom>
        </p:spPr>
      </p:pic>
      <p:sp>
        <p:nvSpPr>
          <p:cNvPr id="50" name="Text 42"/>
          <p:cNvSpPr/>
          <p:nvPr/>
        </p:nvSpPr>
        <p:spPr>
          <a:xfrm>
            <a:off x="6867144" y="3182112"/>
            <a:ext cx="18745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Ratings</a:t>
            </a:r>
            <a:endParaRPr lang="en-US" sz="1200" dirty="0"/>
          </a:p>
        </p:txBody>
      </p:sp>
      <p:sp>
        <p:nvSpPr>
          <p:cNvPr id="51" name="Text 43"/>
          <p:cNvSpPr/>
          <p:nvPr/>
        </p:nvSpPr>
        <p:spPr>
          <a:xfrm>
            <a:off x="6867144" y="3456432"/>
            <a:ext cx="18745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5966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~200K records</a:t>
            </a:r>
            <a:endParaRPr lang="en-US" sz="950" dirty="0"/>
          </a:p>
        </p:txBody>
      </p:sp>
      <p:sp>
        <p:nvSpPr>
          <p:cNvPr id="52" name="Text 44"/>
          <p:cNvSpPr/>
          <p:nvPr/>
        </p:nvSpPr>
        <p:spPr>
          <a:xfrm>
            <a:off x="6199632" y="3840480"/>
            <a:ext cx="2542032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rating_id · product_id · customer_id · score · date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Cleaning &amp; SQL Transformation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Building a Clean, Reliable Data Foundation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4048" y="1115568"/>
            <a:ext cx="4983480" cy="3566160"/>
          </a:xfrm>
          <a:prstGeom prst="rect">
            <a:avLst/>
          </a:prstGeom>
          <a:solidFill>
            <a:srgbClr val="111020"/>
          </a:solidFill>
          <a:ln w="12700">
            <a:solidFill>
              <a:srgbClr val="111020"/>
            </a:solidFill>
            <a:prstDash val="solid"/>
          </a:ln>
          <a:effectLst>
            <a:outerShdw blurRad="177800" dist="508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115568"/>
            <a:ext cx="4983480" cy="274320"/>
          </a:xfrm>
          <a:prstGeom prst="rect">
            <a:avLst/>
          </a:prstGeom>
          <a:solidFill>
            <a:srgbClr val="1C1830"/>
          </a:solidFill>
          <a:ln w="12700">
            <a:solidFill>
              <a:srgbClr val="1C183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2064" y="1197864"/>
            <a:ext cx="91440" cy="91440"/>
          </a:xfrm>
          <a:prstGeom prst="ellipse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1978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41248" y="11978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1156716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A3AF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zepto_analytics.sql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512064" y="146304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-- 1. Handle NULL values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12064" y="162306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UPDATE orders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512064" y="17830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delivery_time = 0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12064" y="194310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WHERE delivery_time IS NULL;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512064" y="226314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-- 2. Remove duplicate records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512064" y="242316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86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DELETE FROM transactions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512064" y="25831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WHERE txn_id NOT IN (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12064" y="274320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SELECT MIN(txn_id)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12064" y="290322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FROM transactions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512064" y="306324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  GROUP BY order_id, amount);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12064" y="33832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-- 3. Standardise city names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512064" y="354330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UPDATE customers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12064" y="370332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SET city = TRIM(UPPER(city));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512064" y="402336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A9955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-- 4. Create SQL View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512064" y="418338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C586C0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CREATE VIEW v_sales_summary AS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512064" y="434340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SELECT c.city, SUM(t.amount)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12064" y="450342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FROM orders o JOIN customers c</a:t>
            </a:r>
            <a:endParaRPr lang="en-US" sz="750" dirty="0"/>
          </a:p>
        </p:txBody>
      </p:sp>
      <p:sp>
        <p:nvSpPr>
          <p:cNvPr id="33" name="Text 31"/>
          <p:cNvSpPr/>
          <p:nvPr/>
        </p:nvSpPr>
        <p:spPr>
          <a:xfrm>
            <a:off x="512064" y="4663440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9CDCFE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 o.customer_id = c.id;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5532120" y="1115568"/>
            <a:ext cx="333756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532120" y="1115568"/>
            <a:ext cx="45720" cy="7863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623560" y="1280160"/>
            <a:ext cx="457200" cy="45720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7568" y="1335024"/>
            <a:ext cx="329184" cy="329184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6172200" y="1179576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Null Value Handling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6172200" y="1444752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Replaced NULL delivery times, amounts and customer fields with appropriate defaults.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5532120" y="2011680"/>
            <a:ext cx="333756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5532120" y="2011680"/>
            <a:ext cx="45720" cy="7863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623560" y="2176272"/>
            <a:ext cx="457200" cy="45720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231136"/>
            <a:ext cx="329184" cy="329184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6172200" y="2075688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Duplicate Removal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6172200" y="2340864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Eliminated duplicate transactions using GROUP BY deduplication logic.</a:t>
            </a:r>
            <a:endParaRPr lang="en-US" sz="1000" dirty="0"/>
          </a:p>
        </p:txBody>
      </p:sp>
      <p:sp>
        <p:nvSpPr>
          <p:cNvPr id="46" name="Shape 42"/>
          <p:cNvSpPr/>
          <p:nvPr/>
        </p:nvSpPr>
        <p:spPr>
          <a:xfrm>
            <a:off x="5532120" y="2907792"/>
            <a:ext cx="333756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7" name="Shape 43"/>
          <p:cNvSpPr/>
          <p:nvPr/>
        </p:nvSpPr>
        <p:spPr>
          <a:xfrm>
            <a:off x="5532120" y="2907792"/>
            <a:ext cx="45720" cy="7863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5623560" y="3072384"/>
            <a:ext cx="457200" cy="45720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7568" y="3127248"/>
            <a:ext cx="329184" cy="329184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6172200" y="2971800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Standardisation</a:t>
            </a:r>
            <a:endParaRPr lang="en-US" sz="1050" dirty="0"/>
          </a:p>
        </p:txBody>
      </p:sp>
      <p:sp>
        <p:nvSpPr>
          <p:cNvPr id="51" name="Text 46"/>
          <p:cNvSpPr/>
          <p:nvPr/>
        </p:nvSpPr>
        <p:spPr>
          <a:xfrm>
            <a:off x="6172200" y="3236976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Normalised city names, payment types and product categories to consistent formats.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5532120" y="3803904"/>
            <a:ext cx="3337560" cy="78638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Shape 48"/>
          <p:cNvSpPr/>
          <p:nvPr/>
        </p:nvSpPr>
        <p:spPr>
          <a:xfrm>
            <a:off x="5532120" y="3803904"/>
            <a:ext cx="45720" cy="7863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4" name="Shape 49"/>
          <p:cNvSpPr/>
          <p:nvPr/>
        </p:nvSpPr>
        <p:spPr>
          <a:xfrm>
            <a:off x="5623560" y="3968496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5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7568" y="4023360"/>
            <a:ext cx="329184" cy="329184"/>
          </a:xfrm>
          <a:prstGeom prst="rect">
            <a:avLst/>
          </a:prstGeom>
        </p:spPr>
      </p:pic>
      <p:sp>
        <p:nvSpPr>
          <p:cNvPr id="56" name="Text 50"/>
          <p:cNvSpPr/>
          <p:nvPr/>
        </p:nvSpPr>
        <p:spPr>
          <a:xfrm>
            <a:off x="6172200" y="3867912"/>
            <a:ext cx="2606040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SQL Views Creation</a:t>
            </a:r>
            <a:endParaRPr lang="en-US" sz="1050" dirty="0"/>
          </a:p>
        </p:txBody>
      </p:sp>
      <p:sp>
        <p:nvSpPr>
          <p:cNvPr id="57" name="Text 51"/>
          <p:cNvSpPr/>
          <p:nvPr/>
        </p:nvSpPr>
        <p:spPr>
          <a:xfrm>
            <a:off x="6172200" y="4133088"/>
            <a:ext cx="260604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v_sales_summary, v_customer_analytics, v_delivery_performance views.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Modeling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Star Schema &amp; DAX Measures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84048" y="1115568"/>
            <a:ext cx="4919472" cy="367588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1115568"/>
            <a:ext cx="45720" cy="367588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07008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 Model — Star Schema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65376" y="2286000"/>
            <a:ext cx="1508760" cy="82296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101600" dist="25400" dir="8100000" algn="bl" rotWithShape="0">
              <a:srgbClr val="5B21B6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865376" y="2340864"/>
            <a:ext cx="1508760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FACT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Orders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1572895"/>
            <a:ext cx="1314450" cy="621665"/>
          </a:xfrm>
          <a:prstGeom prst="rect">
            <a:avLst/>
          </a:prstGeom>
          <a:solidFill>
            <a:srgbClr val="7C3AED">
              <a:alpha val="82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1664208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 flipV="1">
            <a:off x="1865630" y="1885315"/>
            <a:ext cx="586740" cy="10795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18" name="Shape 16"/>
          <p:cNvSpPr/>
          <p:nvPr/>
        </p:nvSpPr>
        <p:spPr>
          <a:xfrm>
            <a:off x="3547872" y="1572768"/>
            <a:ext cx="1371600" cy="713232"/>
          </a:xfrm>
          <a:prstGeom prst="rect">
            <a:avLst/>
          </a:prstGeom>
          <a:solidFill>
            <a:srgbClr val="0891B2">
              <a:alpha val="82000"/>
            </a:srgbClr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47872" y="1664208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Products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3364992"/>
            <a:ext cx="1371600" cy="713232"/>
          </a:xfrm>
          <a:prstGeom prst="rect">
            <a:avLst/>
          </a:prstGeom>
          <a:solidFill>
            <a:srgbClr val="D97706">
              <a:alpha val="82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3456432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Delivery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547872" y="3364992"/>
            <a:ext cx="1371600" cy="713232"/>
          </a:xfrm>
          <a:prstGeom prst="rect">
            <a:avLst/>
          </a:prstGeom>
          <a:solidFill>
            <a:srgbClr val="DB2777">
              <a:alpha val="82000"/>
            </a:srgbClr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47872" y="3456432"/>
            <a:ext cx="1371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DIM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02920" y="4315968"/>
            <a:ext cx="466344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1-to-many relationships  ·  Star schema optimised for Power BI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486400" y="1115568"/>
            <a:ext cx="3337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DAX Measures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0" y="1517904"/>
            <a:ext cx="3337560" cy="576072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596128" y="1572768"/>
            <a:ext cx="3127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Total Revenue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96128" y="1792224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SUMX(Orders, Orders[amount])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5486400" y="2185416"/>
            <a:ext cx="3337560" cy="576072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596128" y="2240280"/>
            <a:ext cx="3127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Avg Delivery Time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596128" y="2459736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AVERAGE(Delivery[time_mins])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486400" y="2852928"/>
            <a:ext cx="3337560" cy="576072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5596128" y="2907792"/>
            <a:ext cx="3127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Customer LTV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5596128" y="3127248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DIVIDE([Revenue],[Customers])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486400" y="3520440"/>
            <a:ext cx="3337560" cy="576072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5596128" y="3575304"/>
            <a:ext cx="3127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Order Count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596128" y="3794760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COUNTROWS(Orders)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486400" y="4187952"/>
            <a:ext cx="3337560" cy="576072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5596128" y="4242816"/>
            <a:ext cx="3127248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A78BF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On-Time Rate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596128" y="4462272"/>
            <a:ext cx="3127248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DCDCAA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= DIVIDE([OnTime],[Deliveries])</a:t>
            </a:r>
            <a:endParaRPr lang="en-US" sz="750" dirty="0"/>
          </a:p>
        </p:txBody>
      </p:sp>
      <p:sp>
        <p:nvSpPr>
          <p:cNvPr id="44" name="Shape 15"/>
          <p:cNvSpPr/>
          <p:nvPr/>
        </p:nvSpPr>
        <p:spPr>
          <a:xfrm>
            <a:off x="3016250" y="1885950"/>
            <a:ext cx="531495" cy="10160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5" name="Shape 15"/>
          <p:cNvSpPr/>
          <p:nvPr/>
        </p:nvSpPr>
        <p:spPr>
          <a:xfrm flipH="1">
            <a:off x="2452370" y="1906270"/>
            <a:ext cx="8255" cy="398145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6" name="Shape 15"/>
          <p:cNvSpPr/>
          <p:nvPr/>
        </p:nvSpPr>
        <p:spPr>
          <a:xfrm flipH="1">
            <a:off x="2999740" y="1885950"/>
            <a:ext cx="7620" cy="400685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7" name="Shape 15"/>
          <p:cNvSpPr/>
          <p:nvPr/>
        </p:nvSpPr>
        <p:spPr>
          <a:xfrm>
            <a:off x="3007360" y="3716020"/>
            <a:ext cx="531495" cy="10160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8" name="Shape 15"/>
          <p:cNvSpPr/>
          <p:nvPr/>
        </p:nvSpPr>
        <p:spPr>
          <a:xfrm flipV="1">
            <a:off x="2451100" y="3147060"/>
            <a:ext cx="10160" cy="579120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49" name="Shape 15"/>
          <p:cNvSpPr/>
          <p:nvPr/>
        </p:nvSpPr>
        <p:spPr>
          <a:xfrm flipV="1">
            <a:off x="3015615" y="3137535"/>
            <a:ext cx="1270" cy="578485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  <p:sp>
        <p:nvSpPr>
          <p:cNvPr id="50" name="Shape 15"/>
          <p:cNvSpPr/>
          <p:nvPr/>
        </p:nvSpPr>
        <p:spPr>
          <a:xfrm>
            <a:off x="1920240" y="3716020"/>
            <a:ext cx="531495" cy="10160"/>
          </a:xfrm>
          <a:prstGeom prst="line">
            <a:avLst/>
          </a:prstGeom>
          <a:ln w="6350" cap="flat" cmpd="sng" algn="ctr">
            <a:solidFill>
              <a:prstClr val="black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Customer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 Customer Activity, Spending &amp; Ratings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969264"/>
            <a:ext cx="4572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21B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11,200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Customers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2479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2479" y="969264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5631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70,573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7343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40910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40910" y="969264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4062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₹49,520K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5774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19342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9342" y="969264"/>
            <a:ext cx="45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2494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₹4,421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4206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Spend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1719072"/>
            <a:ext cx="6080760" cy="2999232"/>
          </a:xfrm>
          <a:prstGeom prst="rect">
            <a:avLst/>
          </a:prstGeom>
          <a:solidFill>
            <a:srgbClr val="EDE9FE"/>
          </a:solidFill>
          <a:ln w="15240">
            <a:solidFill>
              <a:srgbClr val="5B21B6"/>
            </a:solidFill>
            <a:prstDash val="solid"/>
          </a:ln>
          <a:effectLst>
            <a:outerShdw blurRad="254000" dist="50800" dir="8100000" algn="bl" rotWithShape="0">
              <a:srgbClr val="5B21B6">
                <a:alpha val="16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46504"/>
            <a:ext cx="6007608" cy="29443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84048" y="4471416"/>
            <a:ext cx="6080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  ·  Interactive Dashboard  ·  Zepto 360°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601968" y="1719072"/>
            <a:ext cx="2331720" cy="29992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01968" y="1719072"/>
            <a:ext cx="45720" cy="299923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01968" y="1719072"/>
            <a:ext cx="2331720" cy="32918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1764792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93408" y="2221992"/>
            <a:ext cx="91440" cy="914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2157984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spend per customer consistent across 10 cities (~₹4,400–₹5,000)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93408" y="2880360"/>
            <a:ext cx="91440" cy="914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0" y="2816352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Hyderabad leads bubble chart — highest total spend + order volume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693408" y="3538728"/>
            <a:ext cx="91440" cy="914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0" y="3474720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Kolkata highest customer count; Mumbai &amp; Bengaluru lowest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693408" y="4197096"/>
            <a:ext cx="91440" cy="91440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4133088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Filters: Customer City · Name · Rating · Customer ID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Sales Trend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Tracking Sales Performance, Order Volume &amp; Growth Trends Over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969264"/>
            <a:ext cx="4572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21B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₹3.6 Cr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Sales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2479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2479" y="969264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5631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18,372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7343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40910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40910" y="969264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4062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₹1,966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5774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Order Value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19342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9342" y="969264"/>
            <a:ext cx="45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2494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₹87,290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4206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Sales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1719072"/>
            <a:ext cx="6080760" cy="2999232"/>
          </a:xfrm>
          <a:prstGeom prst="rect">
            <a:avLst/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  <a:effectLst>
            <a:outerShdw blurRad="254000" dist="50800" dir="8100000" algn="bl" rotWithShape="0">
              <a:srgbClr val="7C3AED">
                <a:alpha val="16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46504"/>
            <a:ext cx="6007608" cy="29443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84048" y="4471416"/>
            <a:ext cx="6080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  ·  Interactive Dashboard  ·  Zepto 360°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601968" y="1719072"/>
            <a:ext cx="2331720" cy="29992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01968" y="1719072"/>
            <a:ext cx="45720" cy="29992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01968" y="1719072"/>
            <a:ext cx="2331720" cy="32918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1764792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93408" y="2221992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2157984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Monthly sales stable at ₹2.5M–₹3.3M with peaks in June &amp; October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93408" y="2880360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0" y="2816352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Sales growth trend shows strong recovery after September dip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693408" y="3538728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0" y="3474720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 by month range 1,400–1,600 with seasonal variation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693408" y="4197096"/>
            <a:ext cx="91440" cy="914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4133088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Filters: Order Date · Month · Sales Range · Total Orders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Delivery Performance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Monitoring Delivery Efficiency, Speed &amp; Service Quality Across Orders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969264"/>
            <a:ext cx="4572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21B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42 min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Delivery Time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2479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2479" y="969264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5631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5 km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7343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Distance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40910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40910" y="969264"/>
            <a:ext cx="4572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4062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12,182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5774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Fast Deliveries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19342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9342" y="969264"/>
            <a:ext cx="45720" cy="658368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2494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B2777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33,947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4206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Late Deliveries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1719072"/>
            <a:ext cx="6080760" cy="2999232"/>
          </a:xfrm>
          <a:prstGeom prst="rect">
            <a:avLst/>
          </a:prstGeom>
          <a:solidFill>
            <a:srgbClr val="EDE9FE"/>
          </a:solidFill>
          <a:ln w="15240">
            <a:solidFill>
              <a:srgbClr val="0891B2"/>
            </a:solidFill>
            <a:prstDash val="solid"/>
          </a:ln>
          <a:effectLst>
            <a:outerShdw blurRad="254000" dist="50800" dir="8100000" algn="bl" rotWithShape="0">
              <a:srgbClr val="0891B2">
                <a:alpha val="16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46504"/>
            <a:ext cx="6007608" cy="29443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84048" y="4471416"/>
            <a:ext cx="6080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  ·  Interactive Dashboard  ·  Zepto 360°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601968" y="1719072"/>
            <a:ext cx="2331720" cy="29992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01968" y="1719072"/>
            <a:ext cx="45720" cy="299923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01968" y="1719072"/>
            <a:ext cx="2331720" cy="32918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1764792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93408" y="222199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2157984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58.7% on-time · 41.3% late — significant improvement opportunity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93408" y="2880360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0" y="2816352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Kolkata worst city at 43 min avg; Jaipur best at ~40.5 min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693408" y="353872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0" y="3474720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On-time vs late nearly equal in order volume (10K vs 9.2K)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693408" y="419709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4133088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Filters: City · Delivery Status · Distance Range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Order &amp; Revenue Insights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Comprehensive Analysis of Orders, Revenue, Behaviour &amp; Delivery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969264"/>
            <a:ext cx="4572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21B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18,372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Orders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2479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2479" y="969264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5631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₹4.95 Cr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7343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40910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40910" y="969264"/>
            <a:ext cx="45720" cy="6583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4062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₹2,695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5774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Order Value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19342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9342" y="969264"/>
            <a:ext cx="45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2494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2,05,679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4206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Qty Sold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1719072"/>
            <a:ext cx="6080760" cy="2999232"/>
          </a:xfrm>
          <a:prstGeom prst="rect">
            <a:avLst/>
          </a:prstGeom>
          <a:solidFill>
            <a:srgbClr val="EDE9FE"/>
          </a:solidFill>
          <a:ln w="15240">
            <a:solidFill>
              <a:srgbClr val="D97706"/>
            </a:solidFill>
            <a:prstDash val="solid"/>
          </a:ln>
          <a:effectLst>
            <a:outerShdw blurRad="254000" dist="50800" dir="8100000" algn="bl" rotWithShape="0">
              <a:srgbClr val="D97706">
                <a:alpha val="16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46504"/>
            <a:ext cx="6007608" cy="2944368"/>
          </a:xfrm>
          <a:prstGeom prst="rect">
            <a:avLst/>
          </a:prstGeom>
        </p:spPr>
      </p:pic>
      <p:sp>
        <p:nvSpPr>
          <p:cNvPr id="30" name="Shape 27"/>
          <p:cNvSpPr/>
          <p:nvPr/>
        </p:nvSpPr>
        <p:spPr>
          <a:xfrm>
            <a:off x="6601968" y="1719072"/>
            <a:ext cx="2331720" cy="29992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01968" y="1719072"/>
            <a:ext cx="45720" cy="29992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01968" y="1719072"/>
            <a:ext cx="2331720" cy="3291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1764792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93408" y="2221992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2157984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Baby Care leads revenue at ₹12.7M; Personal Care ₹8.4M second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93408" y="2880360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0" y="2816352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dominates payments at 49.9% — followed by Credit Card (15%)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693408" y="3538728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0" y="3474720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Adults &amp; Young Adults drive highest revenue by age group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693408" y="4197096"/>
            <a:ext cx="91440" cy="9144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4133088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Filters: Order Status · Payment Mode · Age Group · Category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Product Performance Analytics Dashboard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3210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Analysing Product Sales, Revenue Contribution, Demand &amp; Trends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84048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84048" y="969264"/>
            <a:ext cx="45720" cy="65836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5B21B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₹4.95 Cr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38912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Revenue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462479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462479" y="969264"/>
            <a:ext cx="45720" cy="6583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35631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C3AED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2,05,679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17343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Qty Sold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540910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40910" y="969264"/>
            <a:ext cx="45720" cy="6583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4062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4 ★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95774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Rating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619342" y="969264"/>
            <a:ext cx="1993392" cy="658368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619342" y="969264"/>
            <a:ext cx="45720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92494" y="1014984"/>
            <a:ext cx="186537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  <a:latin typeface="Georgia" panose="02040502050405020303" pitchFamily="34" charset="0"/>
                <a:ea typeface="Georgia" panose="02040502050405020303" pitchFamily="34" charset="-122"/>
                <a:cs typeface="Georgia" panose="02040502050405020303" pitchFamily="34" charset="-120"/>
              </a:rPr>
              <a:t>1,159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674206" y="1362456"/>
            <a:ext cx="190195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Total Products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84048" y="1719072"/>
            <a:ext cx="6080760" cy="2999232"/>
          </a:xfrm>
          <a:prstGeom prst="rect">
            <a:avLst/>
          </a:prstGeom>
          <a:solidFill>
            <a:srgbClr val="EDE9FE"/>
          </a:solidFill>
          <a:ln w="15240">
            <a:solidFill>
              <a:srgbClr val="DB2777"/>
            </a:solidFill>
            <a:prstDash val="solid"/>
          </a:ln>
          <a:effectLst>
            <a:outerShdw blurRad="254000" dist="50800" dir="8100000" algn="bl" rotWithShape="0">
              <a:srgbClr val="DB2777">
                <a:alpha val="16000"/>
              </a:srgbClr>
            </a:outerShdw>
          </a:effectLst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1746504"/>
            <a:ext cx="6007608" cy="294436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384048" y="4471416"/>
            <a:ext cx="60807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  ·  Interactive Dashboard  ·  Zepto 360°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6601968" y="1719072"/>
            <a:ext cx="2331720" cy="2999232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601968" y="1719072"/>
            <a:ext cx="45720" cy="29992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601968" y="1719072"/>
            <a:ext cx="2331720" cy="32918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93408" y="1764792"/>
            <a:ext cx="21945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Highlights</a:t>
            </a:r>
            <a:endParaRPr lang="en-US" sz="1000" dirty="0"/>
          </a:p>
        </p:txBody>
      </p:sp>
      <p:sp>
        <p:nvSpPr>
          <p:cNvPr id="34" name="Shape 31"/>
          <p:cNvSpPr/>
          <p:nvPr/>
        </p:nvSpPr>
        <p:spPr>
          <a:xfrm>
            <a:off x="6693408" y="2221992"/>
            <a:ext cx="91440" cy="914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858000" y="2157984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Dairy &amp; Bakery leads quantity sold; Baby Care &amp; Grocery follow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93408" y="2880360"/>
            <a:ext cx="91440" cy="914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0" y="2816352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Metro Milk top revenue product at ₹0.27M; Fresh Tea #2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6693408" y="3538728"/>
            <a:ext cx="91440" cy="914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858000" y="3474720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Almonds, Atta &amp; Banana dominate product revenue table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6693408" y="4197096"/>
            <a:ext cx="91440" cy="9144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858000" y="4133088"/>
            <a:ext cx="20574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Filters: Category · Product Name · Avg Rating · City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5B21B6">
              <a:alpha val="13000"/>
            </a:srgbClr>
          </a:solidFill>
          <a:ln w="12700">
            <a:solidFill>
              <a:srgbClr val="5B21B6">
                <a:alpha val="13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627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2259" y="109728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11680" y="109728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Key Business Insights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676656"/>
            <a:ext cx="832104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Data-Driven Discoveries from the Zepto 360° Analytics Suite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84048" y="1051560"/>
            <a:ext cx="2743200" cy="1600200"/>
          </a:xfrm>
          <a:prstGeom prst="rect">
            <a:avLst/>
          </a:prstGeom>
          <a:solidFill>
            <a:srgbClr val="1A0F38"/>
          </a:solidFill>
          <a:ln w="7620">
            <a:solidFill>
              <a:srgbClr val="5B21B6"/>
            </a:solidFill>
            <a:prstDash val="solid"/>
          </a:ln>
          <a:effectLst>
            <a:outerShdw blurRad="152400" dist="25400" dir="8100000" algn="bl" rotWithShape="0">
              <a:srgbClr val="5B21B6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051560"/>
            <a:ext cx="2743200" cy="3200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3776" y="1161288"/>
            <a:ext cx="420624" cy="420624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" y="1197864"/>
            <a:ext cx="4206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900" dirty="0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117957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93776" y="1664208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Top Performing Cities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93776" y="1938528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Kolkata leads customer count at 1,200. Mumbai &amp; Bengaluru lowest — strong untapped expansion potential.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3236976" y="1051560"/>
            <a:ext cx="2743200" cy="1600200"/>
          </a:xfrm>
          <a:prstGeom prst="rect">
            <a:avLst/>
          </a:prstGeom>
          <a:solidFill>
            <a:srgbClr val="1A0F38"/>
          </a:solidFill>
          <a:ln w="7620">
            <a:solidFill>
              <a:srgbClr val="0891B2"/>
            </a:solidFill>
            <a:prstDash val="solid"/>
          </a:ln>
          <a:effectLst>
            <a:outerShdw blurRad="152400" dist="25400" dir="8100000" algn="bl" rotWithShape="0">
              <a:srgbClr val="0891B2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236976" y="1051560"/>
            <a:ext cx="274320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46704" y="1161288"/>
            <a:ext cx="420624" cy="420624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346704" y="1197864"/>
            <a:ext cx="4206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90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192" y="1179576"/>
            <a:ext cx="329184" cy="3291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346704" y="1664208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Best-Selling Products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3346704" y="1938528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Daily Almonds, Atta &amp; Banana top revenue. Baby Care category leads at ₹12.7M total — highest of all categories.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089904" y="1051560"/>
            <a:ext cx="2743200" cy="1600200"/>
          </a:xfrm>
          <a:prstGeom prst="rect">
            <a:avLst/>
          </a:prstGeom>
          <a:solidFill>
            <a:srgbClr val="1A0F38"/>
          </a:solidFill>
          <a:ln w="7620">
            <a:solidFill>
              <a:srgbClr val="D97706"/>
            </a:solidFill>
            <a:prstDash val="solid"/>
          </a:ln>
          <a:effectLst>
            <a:outerShdw blurRad="152400" dist="25400" dir="8100000" algn="bl" rotWithShape="0">
              <a:srgbClr val="D97706">
                <a:alpha val="1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6089904" y="1051560"/>
            <a:ext cx="2743200" cy="320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199632" y="1161288"/>
            <a:ext cx="420624" cy="42062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199632" y="1197864"/>
            <a:ext cx="4206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900" dirty="0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1179576"/>
            <a:ext cx="329184" cy="329184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199632" y="1664208"/>
            <a:ext cx="254203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Payment Preferences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6199632" y="1938528"/>
            <a:ext cx="254203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UPI dominates at 49.9% of all transactions. Credit Card 15%, Cash on Delivery 14.8%, Net Banking 10%.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84048" y="2816352"/>
            <a:ext cx="4041648" cy="1600200"/>
          </a:xfrm>
          <a:prstGeom prst="rect">
            <a:avLst/>
          </a:prstGeom>
          <a:solidFill>
            <a:srgbClr val="1A0F38"/>
          </a:solidFill>
          <a:ln w="7620">
            <a:solidFill>
              <a:srgbClr val="DB2777"/>
            </a:solidFill>
            <a:prstDash val="solid"/>
          </a:ln>
          <a:effectLst>
            <a:outerShdw blurRad="152400" dist="25400" dir="8100000" algn="bl" rotWithShape="0">
              <a:srgbClr val="DB2777">
                <a:alpha val="18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384048" y="2816352"/>
            <a:ext cx="4041648" cy="320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93776" y="2926080"/>
            <a:ext cx="420624" cy="420624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493776" y="2962656"/>
            <a:ext cx="4206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900" dirty="0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2944368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493776" y="34290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Delivery Delay Patterns</a:t>
            </a:r>
            <a:endParaRPr lang="en-US" sz="1050" dirty="0"/>
          </a:p>
        </p:txBody>
      </p:sp>
      <p:sp>
        <p:nvSpPr>
          <p:cNvPr id="38" name="Text 32"/>
          <p:cNvSpPr/>
          <p:nvPr/>
        </p:nvSpPr>
        <p:spPr>
          <a:xfrm>
            <a:off x="493776" y="370332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33,947 late deliveries (73%) vs 12,182 fast. Kolkata worst at 43 min avg; Jaipur best at ~40.5 min.</a:t>
            </a:r>
            <a:endParaRPr lang="en-US" sz="1000" dirty="0"/>
          </a:p>
        </p:txBody>
      </p:sp>
      <p:sp>
        <p:nvSpPr>
          <p:cNvPr id="39" name="Shape 33"/>
          <p:cNvSpPr/>
          <p:nvPr/>
        </p:nvSpPr>
        <p:spPr>
          <a:xfrm>
            <a:off x="4663440" y="2816352"/>
            <a:ext cx="4041648" cy="1600200"/>
          </a:xfrm>
          <a:prstGeom prst="rect">
            <a:avLst/>
          </a:prstGeom>
          <a:solidFill>
            <a:srgbClr val="1A0F38"/>
          </a:solidFill>
          <a:ln w="7620">
            <a:solidFill>
              <a:srgbClr val="C4B5FD"/>
            </a:solidFill>
            <a:prstDash val="solid"/>
          </a:ln>
          <a:effectLst>
            <a:outerShdw blurRad="152400" dist="25400" dir="8100000" algn="bl" rotWithShape="0">
              <a:srgbClr val="C4B5FD">
                <a:alpha val="18000"/>
              </a:srgbClr>
            </a:outerShdw>
          </a:effectLst>
        </p:spPr>
      </p:sp>
      <p:sp>
        <p:nvSpPr>
          <p:cNvPr id="40" name="Shape 34"/>
          <p:cNvSpPr/>
          <p:nvPr/>
        </p:nvSpPr>
        <p:spPr>
          <a:xfrm>
            <a:off x="4663440" y="2816352"/>
            <a:ext cx="4041648" cy="32004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4773168" y="2926080"/>
            <a:ext cx="420624" cy="420624"/>
          </a:xfrm>
          <a:prstGeom prst="ellipse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4773168" y="2962656"/>
            <a:ext cx="420624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900" dirty="0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8656" y="2944368"/>
            <a:ext cx="329184" cy="329184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4773168" y="3429000"/>
            <a:ext cx="3840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Customer Purchase Trends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4773168" y="3703320"/>
            <a:ext cx="38404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 spend ₹4,421 uniform across cities. Hyderabad tops value bubble — highest spend + order volume combined.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50292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Strategic Recommendations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005840"/>
            <a:ext cx="530352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Data-backed actions to accelerate growth and operational excellence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49440" y="502920"/>
            <a:ext cx="2560320" cy="2560320"/>
          </a:xfrm>
          <a:prstGeom prst="ellipse">
            <a:avLst/>
          </a:prstGeom>
          <a:solidFill>
            <a:srgbClr val="EDE9FE"/>
          </a:solidFill>
          <a:ln w="6350">
            <a:solidFill>
              <a:srgbClr val="C4B5F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0" y="1389888"/>
            <a:ext cx="9144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7315200" y="2176272"/>
            <a:ext cx="1828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Action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Plan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84048" y="1316736"/>
            <a:ext cx="64008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4048" y="1316736"/>
            <a:ext cx="45720" cy="603504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" y="1399032"/>
            <a:ext cx="438912" cy="438912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1453896"/>
            <a:ext cx="310896" cy="310896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005840" y="1371600"/>
            <a:ext cx="53766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Optimise Delivery Routes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005840" y="161848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Address 33,947 late deliveries by redesigning zones in Kolkata &amp; Ahmedabad — highest delay cities.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384048" y="2020824"/>
            <a:ext cx="64008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84048" y="2020824"/>
            <a:ext cx="45720" cy="6035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75488" y="2103120"/>
            <a:ext cx="438912" cy="438912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" y="2157984"/>
            <a:ext cx="310896" cy="31089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05840" y="2075688"/>
            <a:ext cx="53766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Focus on High-Margin Products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1005840" y="2322576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Scale Baby Care (₹12.7M) and Personal Care (₹8.4M) with targeted promotions and premium placement.</a:t>
            </a:r>
            <a:endParaRPr lang="en-US" sz="1000" dirty="0"/>
          </a:p>
        </p:txBody>
      </p:sp>
      <p:sp>
        <p:nvSpPr>
          <p:cNvPr id="26" name="Shape 22"/>
          <p:cNvSpPr/>
          <p:nvPr/>
        </p:nvSpPr>
        <p:spPr>
          <a:xfrm>
            <a:off x="384048" y="2724912"/>
            <a:ext cx="64008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384048" y="2724912"/>
            <a:ext cx="45720" cy="6035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475488" y="2807208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2862072"/>
            <a:ext cx="310896" cy="310896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005840" y="2779776"/>
            <a:ext cx="53766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Automate Reorder Operations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1005840" y="3026664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Trigger auto-reorders for Almonds, Atta &amp; Banana SKUs based on their consistently high sales velocity.</a:t>
            </a:r>
            <a:endParaRPr lang="en-US" sz="1000" dirty="0"/>
          </a:p>
        </p:txBody>
      </p:sp>
      <p:sp>
        <p:nvSpPr>
          <p:cNvPr id="32" name="Shape 27"/>
          <p:cNvSpPr/>
          <p:nvPr/>
        </p:nvSpPr>
        <p:spPr>
          <a:xfrm>
            <a:off x="384048" y="3429000"/>
            <a:ext cx="64008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384048" y="3429000"/>
            <a:ext cx="45720" cy="6035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75488" y="3511296"/>
            <a:ext cx="438912" cy="438912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" y="3566160"/>
            <a:ext cx="310896" cy="310896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1005840" y="3483864"/>
            <a:ext cx="53766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Boost Customer Retention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1005840" y="3730752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Target low-spend cities (Mumbai, Bengaluru) with personalised offers to bridge the avg spend gap.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384048" y="4133088"/>
            <a:ext cx="6400800" cy="603504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384048" y="4133088"/>
            <a:ext cx="45720" cy="60350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75488" y="4215384"/>
            <a:ext cx="438912" cy="438912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" y="4270248"/>
            <a:ext cx="310896" cy="310896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005840" y="4187952"/>
            <a:ext cx="5376672" cy="2468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Leverage UPI Dominance</a:t>
            </a:r>
            <a:endParaRPr lang="en-US" sz="1100" dirty="0"/>
          </a:p>
        </p:txBody>
      </p:sp>
      <p:sp>
        <p:nvSpPr>
          <p:cNvPr id="43" name="Text 36"/>
          <p:cNvSpPr/>
          <p:nvPr/>
        </p:nvSpPr>
        <p:spPr>
          <a:xfrm>
            <a:off x="1005840" y="443484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 exclusive UPI cashback deals — 49.9% adoption makes it the highest-impact payment channel.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"/>
            <a:ext cx="9144000" cy="502920"/>
          </a:xfrm>
          <a:prstGeom prst="rect">
            <a:avLst/>
          </a:prstGeom>
          <a:solidFill>
            <a:srgbClr val="F8F6FF"/>
          </a:solidFill>
          <a:ln w="12700">
            <a:solidFill>
              <a:srgbClr val="F8F6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5339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02259" y="91440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5B21B6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5B21B6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7" name="Text 5"/>
          <p:cNvSpPr/>
          <p:nvPr/>
        </p:nvSpPr>
        <p:spPr>
          <a:xfrm>
            <a:off x="2011680" y="91440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5B21B6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Tools &amp; Skills Used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544068"/>
            <a:ext cx="9144000" cy="16459"/>
          </a:xfrm>
          <a:prstGeom prst="rect">
            <a:avLst/>
          </a:prstGeom>
          <a:solidFill>
            <a:srgbClr val="C4B5FD"/>
          </a:solidFill>
          <a:ln w="12700">
            <a:solidFill>
              <a:srgbClr val="C4B5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658368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Technology Stack &amp; Competencies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11480" y="1115568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TOOLS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84175" y="1417320"/>
            <a:ext cx="2049780" cy="11099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1417320"/>
            <a:ext cx="45720" cy="1005840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88136" y="1536192"/>
            <a:ext cx="658368" cy="658368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627632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84048" y="224942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SQL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560320" y="1417320"/>
            <a:ext cx="2084705" cy="11099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2560320" y="1417320"/>
            <a:ext cx="45720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264408" y="1536192"/>
            <a:ext cx="658368" cy="65836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992" y="1627632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560320" y="224942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MySQL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4736465" y="1417320"/>
            <a:ext cx="2061210" cy="11099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4736592" y="1417320"/>
            <a:ext cx="45720" cy="10058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440680" y="1536192"/>
            <a:ext cx="658368" cy="658368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1264" y="1627632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736592" y="224942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912610" y="1417320"/>
            <a:ext cx="2067560" cy="1109980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912864" y="1417320"/>
            <a:ext cx="45720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7616952" y="1536192"/>
            <a:ext cx="658368" cy="658368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36" y="1627632"/>
            <a:ext cx="457200" cy="45720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912864" y="2249424"/>
            <a:ext cx="2048256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0A1E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Excel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411480" y="2633472"/>
            <a:ext cx="10058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5B21B6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SKILLS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>
            <a:off x="384048" y="2907792"/>
            <a:ext cx="2048256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84048" y="2907792"/>
            <a:ext cx="45720" cy="49377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475488" y="3090672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58368" y="302666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Cleaning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2560320" y="2907792"/>
            <a:ext cx="2048256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2560320" y="2907792"/>
            <a:ext cx="45720" cy="49377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2651760" y="309067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834640" y="302666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SQL Views &amp; CTEs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4736592" y="2907792"/>
            <a:ext cx="2048256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4736592" y="2907792"/>
            <a:ext cx="45720" cy="49377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4828032" y="3090672"/>
            <a:ext cx="128016" cy="128016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5010912" y="302666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Modeling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6912864" y="2907792"/>
            <a:ext cx="2048256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5" name="Shape 39"/>
          <p:cNvSpPr/>
          <p:nvPr/>
        </p:nvSpPr>
        <p:spPr>
          <a:xfrm>
            <a:off x="6912864" y="2907792"/>
            <a:ext cx="45720" cy="49377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7004304" y="3090672"/>
            <a:ext cx="128016" cy="128016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187184" y="302666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DAX Measures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384048" y="3502152"/>
            <a:ext cx="2048256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49" name="Shape 43"/>
          <p:cNvSpPr/>
          <p:nvPr/>
        </p:nvSpPr>
        <p:spPr>
          <a:xfrm>
            <a:off x="384048" y="3502152"/>
            <a:ext cx="45720" cy="49377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475488" y="3685032"/>
            <a:ext cx="128016" cy="128016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58368" y="362102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Dashboard Design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2560320" y="3502152"/>
            <a:ext cx="2048256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3" name="Shape 47"/>
          <p:cNvSpPr/>
          <p:nvPr/>
        </p:nvSpPr>
        <p:spPr>
          <a:xfrm>
            <a:off x="2560320" y="3502152"/>
            <a:ext cx="45720" cy="49377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4" name="Shape 48"/>
          <p:cNvSpPr/>
          <p:nvPr/>
        </p:nvSpPr>
        <p:spPr>
          <a:xfrm>
            <a:off x="2651760" y="3685032"/>
            <a:ext cx="128016" cy="128016"/>
          </a:xfrm>
          <a:prstGeom prst="ellipse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55" name="Text 49"/>
          <p:cNvSpPr/>
          <p:nvPr/>
        </p:nvSpPr>
        <p:spPr>
          <a:xfrm>
            <a:off x="2834640" y="362102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Visualisation</a:t>
            </a:r>
            <a:endParaRPr lang="en-US" sz="1000" dirty="0"/>
          </a:p>
        </p:txBody>
      </p:sp>
      <p:sp>
        <p:nvSpPr>
          <p:cNvPr id="56" name="Shape 50"/>
          <p:cNvSpPr/>
          <p:nvPr/>
        </p:nvSpPr>
        <p:spPr>
          <a:xfrm>
            <a:off x="4736592" y="3502152"/>
            <a:ext cx="2048256" cy="493776"/>
          </a:xfrm>
          <a:prstGeom prst="rect">
            <a:avLst/>
          </a:prstGeom>
          <a:solidFill>
            <a:srgbClr val="FFFFFF"/>
          </a:solidFill>
          <a:ln w="5080">
            <a:solidFill>
              <a:srgbClr val="E2E8F0"/>
            </a:solidFill>
            <a:prstDash val="solid"/>
          </a:ln>
          <a:effectLst>
            <a:outerShdw blurRad="1270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7" name="Shape 51"/>
          <p:cNvSpPr/>
          <p:nvPr/>
        </p:nvSpPr>
        <p:spPr>
          <a:xfrm>
            <a:off x="4736592" y="3502152"/>
            <a:ext cx="45720" cy="493776"/>
          </a:xfrm>
          <a:prstGeom prst="rect">
            <a:avLst/>
          </a:prstGeom>
          <a:solidFill>
            <a:srgbClr val="EDE9FE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8" name="Shape 52"/>
          <p:cNvSpPr/>
          <p:nvPr/>
        </p:nvSpPr>
        <p:spPr>
          <a:xfrm>
            <a:off x="4828032" y="3685032"/>
            <a:ext cx="128016" cy="12801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9" name="Text 53"/>
          <p:cNvSpPr/>
          <p:nvPr/>
        </p:nvSpPr>
        <p:spPr>
          <a:xfrm>
            <a:off x="5010912" y="362102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F0A1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Business Analysis</a:t>
            </a:r>
            <a:endParaRPr lang="en-US" sz="1000" dirty="0"/>
          </a:p>
        </p:txBody>
      </p:sp>
      <p:sp>
        <p:nvSpPr>
          <p:cNvPr id="60" name="Text Box 59"/>
          <p:cNvSpPr txBox="1"/>
          <p:nvPr/>
        </p:nvSpPr>
        <p:spPr>
          <a:xfrm>
            <a:off x="1085850" y="278447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GB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6400800" cy="6400800"/>
          </a:xfrm>
          <a:prstGeom prst="ellipse">
            <a:avLst/>
          </a:prstGeom>
          <a:solidFill>
            <a:srgbClr val="5B21B6">
              <a:alpha val="16000"/>
            </a:srgbClr>
          </a:solidFill>
          <a:ln w="12700">
            <a:solidFill>
              <a:srgbClr val="5B21B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926080"/>
            <a:ext cx="4114800" cy="4114800"/>
          </a:xfrm>
          <a:prstGeom prst="ellipse">
            <a:avLst/>
          </a:prstGeom>
          <a:solidFill>
            <a:srgbClr val="A78BFA">
              <a:alpha val="9000"/>
            </a:srgbClr>
          </a:solidFill>
          <a:ln w="12700">
            <a:solidFill>
              <a:srgbClr val="A78BFA">
                <a:alpha val="9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F0A1E"/>
          </a:solidFill>
          <a:ln w="12700">
            <a:solidFill>
              <a:srgbClr val="0F0A1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9728"/>
            <a:ext cx="347472" cy="347472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20040" y="123627"/>
            <a:ext cx="347472" cy="3057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8" name="Text 6"/>
          <p:cNvSpPr/>
          <p:nvPr/>
        </p:nvSpPr>
        <p:spPr>
          <a:xfrm>
            <a:off x="702259" y="109728"/>
            <a:ext cx="111191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1600" b="1" dirty="0">
              <a:solidFill>
                <a:srgbClr val="FFFFFF"/>
              </a:solidFill>
              <a:latin typeface="Arial Black" panose="020B0A04020102020204" pitchFamily="34" charset="0"/>
              <a:ea typeface="Arial Black" panose="020B0A04020102020204" pitchFamily="34" charset="-122"/>
              <a:cs typeface="Arial Black" panose="020B0A04020102020204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2011680" y="109728"/>
            <a:ext cx="68122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749808"/>
            <a:ext cx="822960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 360° Business Analytics Dashboard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1261872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production-ready, end-to-end analytics solution built with SQL, Power BI &amp; DAX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" y="1719072"/>
            <a:ext cx="4187952" cy="1042416"/>
          </a:xfrm>
          <a:prstGeom prst="rect">
            <a:avLst/>
          </a:prstGeom>
          <a:solidFill>
            <a:srgbClr val="1A0F38"/>
          </a:solidFill>
          <a:ln w="7620">
            <a:solidFill>
              <a:srgbClr val="059669"/>
            </a:solidFill>
            <a:prstDash val="solid"/>
          </a:ln>
          <a:effectLst>
            <a:outerShdw blurRad="152400" dist="25400" dir="8100000" algn="bl" rotWithShape="0">
              <a:srgbClr val="059669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84048" y="1719072"/>
            <a:ext cx="4187952" cy="3200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3776" y="1993392"/>
            <a:ext cx="457200" cy="45720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" y="2048256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9848" y="1810512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Business Value Created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1069848" y="2112264"/>
            <a:ext cx="3401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Unified 6 data sources into one suite. Single source of truth for Sales, Delivery, Products &amp; Customers — no more siloed spreadsheets.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754880" y="1719072"/>
            <a:ext cx="4187952" cy="1042416"/>
          </a:xfrm>
          <a:prstGeom prst="rect">
            <a:avLst/>
          </a:prstGeom>
          <a:solidFill>
            <a:srgbClr val="1A0F38"/>
          </a:solidFill>
          <a:ln w="7620">
            <a:solidFill>
              <a:srgbClr val="D97706"/>
            </a:solidFill>
            <a:prstDash val="solid"/>
          </a:ln>
          <a:effectLst>
            <a:outerShdw blurRad="152400" dist="25400" dir="8100000" algn="bl" rotWithShape="0">
              <a:srgbClr val="D97706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754880" y="1719072"/>
            <a:ext cx="4187952" cy="320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64608" y="1993392"/>
            <a:ext cx="457200" cy="4572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616" y="2048256"/>
            <a:ext cx="329184" cy="32918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40680" y="1810512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Insights Generated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5440680" y="2112264"/>
            <a:ext cx="3401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Identified 33,947 late deliveries (73%), UPI dominance at 49.9%, Baby Care as top revenue category at ₹12.7M.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84048" y="2926080"/>
            <a:ext cx="4187952" cy="1042416"/>
          </a:xfrm>
          <a:prstGeom prst="rect">
            <a:avLst/>
          </a:prstGeom>
          <a:solidFill>
            <a:srgbClr val="1A0F38"/>
          </a:solidFill>
          <a:ln w="7620">
            <a:solidFill>
              <a:srgbClr val="A78BFA"/>
            </a:solidFill>
            <a:prstDash val="solid"/>
          </a:ln>
          <a:effectLst>
            <a:outerShdw blurRad="152400" dist="25400" dir="8100000" algn="bl" rotWithShape="0">
              <a:srgbClr val="A78BFA">
                <a:alpha val="18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384048" y="2926080"/>
            <a:ext cx="4187952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93776" y="320040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" y="3255264"/>
            <a:ext cx="329184" cy="329184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069848" y="3017520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Dashboard Impact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1069848" y="3319272"/>
            <a:ext cx="3401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 interactive Power BI dashboards with dynamic slicers, KPI cards and multi-chart views — instant self-service analytics.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4754880" y="2926080"/>
            <a:ext cx="4187952" cy="1042416"/>
          </a:xfrm>
          <a:prstGeom prst="rect">
            <a:avLst/>
          </a:prstGeom>
          <a:solidFill>
            <a:srgbClr val="1A0F38"/>
          </a:solidFill>
          <a:ln w="7620">
            <a:solidFill>
              <a:srgbClr val="DB2777"/>
            </a:solidFill>
            <a:prstDash val="solid"/>
          </a:ln>
          <a:effectLst>
            <a:outerShdw blurRad="152400" dist="25400" dir="8100000" algn="bl" rotWithShape="0">
              <a:srgbClr val="DB2777">
                <a:alpha val="18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4754880" y="2926080"/>
            <a:ext cx="4187952" cy="32004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864608" y="3200400"/>
            <a:ext cx="457200" cy="457200"/>
          </a:xfrm>
          <a:prstGeom prst="ellipse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pic>
        <p:nvPicPr>
          <p:cNvPr id="3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8616" y="3255264"/>
            <a:ext cx="329184" cy="329184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5440680" y="3017520"/>
            <a:ext cx="340156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Data-Driven Decision Making</a:t>
            </a:r>
            <a:endParaRPr lang="en-US" sz="1100" dirty="0"/>
          </a:p>
        </p:txBody>
      </p:sp>
      <p:sp>
        <p:nvSpPr>
          <p:cNvPr id="35" name="Text 29"/>
          <p:cNvSpPr/>
          <p:nvPr/>
        </p:nvSpPr>
        <p:spPr>
          <a:xfrm>
            <a:off x="5440680" y="3319272"/>
            <a:ext cx="3401568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Empowers Zepto leadership to act on delivery delays, city-specific gaps and product performance in real time.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-2286000"/>
            <a:ext cx="9144000" cy="9144000"/>
          </a:xfrm>
          <a:prstGeom prst="ellipse">
            <a:avLst/>
          </a:prstGeom>
          <a:solidFill>
            <a:srgbClr val="5B21B6">
              <a:alpha val="16000"/>
            </a:srgbClr>
          </a:solidFill>
          <a:ln w="12700">
            <a:solidFill>
              <a:srgbClr val="5B21B6">
                <a:alpha val="16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2286000" y="2286000"/>
            <a:ext cx="5486400" cy="5486400"/>
          </a:xfrm>
          <a:prstGeom prst="ellipse">
            <a:avLst/>
          </a:prstGeom>
          <a:solidFill>
            <a:srgbClr val="A78BFA">
              <a:alpha val="8000"/>
            </a:srgbClr>
          </a:solidFill>
          <a:ln w="12700">
            <a:solidFill>
              <a:srgbClr val="A78BFA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3657600"/>
            <a:ext cx="2743200" cy="2743200"/>
          </a:xfrm>
          <a:prstGeom prst="ellipse">
            <a:avLst/>
          </a:prstGeom>
          <a:solidFill>
            <a:srgbClr val="DB2777">
              <a:alpha val="6000"/>
            </a:srgbClr>
          </a:solidFill>
          <a:ln w="12700">
            <a:solidFill>
              <a:srgbClr val="DB2777">
                <a:alpha val="6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944368" y="164592"/>
            <a:ext cx="566928" cy="56692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  <a:effectLst>
            <a:outerShdw blurRad="76200" dist="25400" dir="8100000" algn="bl" rotWithShape="0">
              <a:srgbClr val="5B21B6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944368" y="187269"/>
            <a:ext cx="566928" cy="49889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6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</a:t>
            </a:r>
            <a:endParaRPr lang="en-US" sz="1365" dirty="0"/>
          </a:p>
        </p:txBody>
      </p:sp>
      <p:sp>
        <p:nvSpPr>
          <p:cNvPr id="8" name="Text 6"/>
          <p:cNvSpPr/>
          <p:nvPr/>
        </p:nvSpPr>
        <p:spPr>
          <a:xfrm>
            <a:off x="3567989" y="164592"/>
            <a:ext cx="181417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5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zepto</a:t>
            </a:r>
            <a:endParaRPr lang="en-US" sz="805" dirty="0"/>
          </a:p>
        </p:txBody>
      </p:sp>
      <p:sp>
        <p:nvSpPr>
          <p:cNvPr id="9" name="Text 7"/>
          <p:cNvSpPr/>
          <p:nvPr/>
        </p:nvSpPr>
        <p:spPr>
          <a:xfrm>
            <a:off x="457200" y="914400"/>
            <a:ext cx="8229600" cy="11704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800" b="1" dirty="0">
                <a:solidFill>
                  <a:srgbClr val="FFFFFF"/>
                </a:solidFill>
                <a:latin typeface="Arial Black" panose="020B0A04020102020204" pitchFamily="34" charset="0"/>
                <a:ea typeface="Arial Black" panose="020B0A04020102020204" pitchFamily="34" charset="-122"/>
                <a:cs typeface="Arial Black" panose="020B0A04020102020204" pitchFamily="34" charset="-120"/>
              </a:rPr>
              <a:t>Thank You</a:t>
            </a:r>
            <a:endParaRPr lang="en-US" sz="6800" dirty="0"/>
          </a:p>
        </p:txBody>
      </p:sp>
      <p:sp>
        <p:nvSpPr>
          <p:cNvPr id="10" name="Text 8"/>
          <p:cNvSpPr/>
          <p:nvPr/>
        </p:nvSpPr>
        <p:spPr>
          <a:xfrm>
            <a:off x="457200" y="2084832"/>
            <a:ext cx="8229600" cy="40233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A78BFA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Zepto 360° Business Analytics Dashboard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200400" y="2560320"/>
            <a:ext cx="2743200" cy="36576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70662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Built with SQL  ·  Power BI  ·  DAX  ·  Data Modeling  ·  Business Intelligence</a:t>
            </a:r>
            <a:endParaRPr lang="en-US" sz="1100" dirty="0"/>
          </a:p>
        </p:txBody>
      </p:sp>
      <p:sp>
        <p:nvSpPr>
          <p:cNvPr id="13" name="Shape 11"/>
          <p:cNvSpPr/>
          <p:nvPr>
            <p:custDataLst>
              <p:tags r:id="rId1"/>
            </p:custDataLst>
          </p:nvPr>
        </p:nvSpPr>
        <p:spPr>
          <a:xfrm>
            <a:off x="1261872" y="3127248"/>
            <a:ext cx="2331720" cy="960120"/>
          </a:xfrm>
          <a:prstGeom prst="rect">
            <a:avLst/>
          </a:prstGeom>
          <a:solidFill>
            <a:srgbClr val="1A0F38"/>
          </a:solidFill>
          <a:ln w="7620">
            <a:solidFill>
              <a:srgbClr val="0A66C2"/>
            </a:solidFill>
            <a:prstDash val="solid"/>
          </a:ln>
          <a:effectLst>
            <a:outerShdw blurRad="152400" dist="25400" dir="8100000" algn="bl" rotWithShape="0">
              <a:srgbClr val="0A66C2">
                <a:alpha val="18000"/>
              </a:srgbClr>
            </a:outerShdw>
          </a:effectLst>
        </p:spPr>
      </p:sp>
      <p:sp>
        <p:nvSpPr>
          <p:cNvPr id="14" name="Shape 12"/>
          <p:cNvSpPr/>
          <p:nvPr>
            <p:custDataLst>
              <p:tags r:id="rId2"/>
            </p:custDataLst>
          </p:nvPr>
        </p:nvSpPr>
        <p:spPr>
          <a:xfrm>
            <a:off x="1261872" y="3127248"/>
            <a:ext cx="2331720" cy="32004"/>
          </a:xfrm>
          <a:prstGeom prst="rect">
            <a:avLst/>
          </a:prstGeom>
          <a:solidFill>
            <a:srgbClr val="0A66C2"/>
          </a:solidFill>
          <a:ln w="12700">
            <a:solidFill>
              <a:srgbClr val="0A66C2"/>
            </a:solidFill>
            <a:prstDash val="solid"/>
          </a:ln>
        </p:spPr>
      </p:sp>
      <p:pic>
        <p:nvPicPr>
          <p:cNvPr id="15" name="Image 0" descr="preencoded.png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71600" y="3246120"/>
            <a:ext cx="402336" cy="402336"/>
          </a:xfrm>
          <a:prstGeom prst="rect">
            <a:avLst/>
          </a:prstGeom>
        </p:spPr>
      </p:pic>
      <p:sp>
        <p:nvSpPr>
          <p:cNvPr id="16" name="Text 13"/>
          <p:cNvSpPr/>
          <p:nvPr>
            <p:custDataLst>
              <p:tags r:id="rId5"/>
            </p:custDataLst>
          </p:nvPr>
        </p:nvSpPr>
        <p:spPr>
          <a:xfrm>
            <a:off x="1828800" y="3182112"/>
            <a:ext cx="16642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LinkedIn</a:t>
            </a:r>
            <a:endParaRPr lang="en-US" sz="1050" dirty="0"/>
          </a:p>
        </p:txBody>
      </p:sp>
      <p:sp>
        <p:nvSpPr>
          <p:cNvPr id="17" name="Text 14"/>
          <p:cNvSpPr/>
          <p:nvPr>
            <p:custDataLst>
              <p:tags r:id="rId6"/>
            </p:custDataLst>
          </p:nvPr>
        </p:nvSpPr>
        <p:spPr>
          <a:xfrm>
            <a:off x="1828800" y="3456432"/>
            <a:ext cx="168249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linkedin.com/in/roz-rajak</a:t>
            </a:r>
            <a:endParaRPr lang="en-US" sz="950" dirty="0"/>
          </a:p>
        </p:txBody>
      </p:sp>
      <p:sp>
        <p:nvSpPr>
          <p:cNvPr id="18" name="Shape 15"/>
          <p:cNvSpPr/>
          <p:nvPr>
            <p:custDataLst>
              <p:tags r:id="rId7"/>
            </p:custDataLst>
          </p:nvPr>
        </p:nvSpPr>
        <p:spPr>
          <a:xfrm>
            <a:off x="3749040" y="3127248"/>
            <a:ext cx="2331720" cy="960120"/>
          </a:xfrm>
          <a:prstGeom prst="rect">
            <a:avLst/>
          </a:prstGeom>
          <a:solidFill>
            <a:srgbClr val="1A0F38"/>
          </a:solidFill>
          <a:ln w="7620">
            <a:solidFill>
              <a:srgbClr val="A78BFA"/>
            </a:solidFill>
            <a:prstDash val="solid"/>
          </a:ln>
          <a:effectLst>
            <a:outerShdw blurRad="152400" dist="25400" dir="8100000" algn="bl" rotWithShape="0">
              <a:srgbClr val="A78BFA">
                <a:alpha val="18000"/>
              </a:srgbClr>
            </a:outerShdw>
          </a:effectLst>
        </p:spPr>
      </p:sp>
      <p:sp>
        <p:nvSpPr>
          <p:cNvPr id="19" name="Shape 16"/>
          <p:cNvSpPr/>
          <p:nvPr>
            <p:custDataLst>
              <p:tags r:id="rId8"/>
            </p:custDataLst>
          </p:nvPr>
        </p:nvSpPr>
        <p:spPr>
          <a:xfrm>
            <a:off x="3749040" y="3127248"/>
            <a:ext cx="2331720" cy="3200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3858768" y="3246120"/>
            <a:ext cx="402336" cy="402336"/>
          </a:xfrm>
          <a:prstGeom prst="rect">
            <a:avLst/>
          </a:prstGeom>
        </p:spPr>
      </p:pic>
      <p:sp>
        <p:nvSpPr>
          <p:cNvPr id="21" name="Text 17"/>
          <p:cNvSpPr/>
          <p:nvPr>
            <p:custDataLst>
              <p:tags r:id="rId11"/>
            </p:custDataLst>
          </p:nvPr>
        </p:nvSpPr>
        <p:spPr>
          <a:xfrm>
            <a:off x="4315968" y="3182112"/>
            <a:ext cx="16642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GitHub</a:t>
            </a:r>
            <a:endParaRPr lang="en-US" sz="1050" dirty="0"/>
          </a:p>
        </p:txBody>
      </p:sp>
      <p:sp>
        <p:nvSpPr>
          <p:cNvPr id="22" name="Text 18"/>
          <p:cNvSpPr/>
          <p:nvPr>
            <p:custDataLst>
              <p:tags r:id="rId12"/>
            </p:custDataLst>
          </p:nvPr>
        </p:nvSpPr>
        <p:spPr>
          <a:xfrm>
            <a:off x="4315968" y="3456432"/>
            <a:ext cx="168249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github.com/rosesolanki29</a:t>
            </a:r>
            <a:endParaRPr lang="en-US" sz="950" dirty="0"/>
          </a:p>
        </p:txBody>
      </p:sp>
      <p:sp>
        <p:nvSpPr>
          <p:cNvPr id="23" name="Shape 19"/>
          <p:cNvSpPr/>
          <p:nvPr>
            <p:custDataLst>
              <p:tags r:id="rId13"/>
            </p:custDataLst>
          </p:nvPr>
        </p:nvSpPr>
        <p:spPr>
          <a:xfrm>
            <a:off x="6236208" y="3127248"/>
            <a:ext cx="2331720" cy="960120"/>
          </a:xfrm>
          <a:prstGeom prst="rect">
            <a:avLst/>
          </a:prstGeom>
          <a:solidFill>
            <a:srgbClr val="1A0F38"/>
          </a:solidFill>
          <a:ln w="7620">
            <a:solidFill>
              <a:srgbClr val="0891B2"/>
            </a:solidFill>
            <a:prstDash val="solid"/>
          </a:ln>
          <a:effectLst>
            <a:outerShdw blurRad="152400" dist="25400" dir="8100000" algn="bl" rotWithShape="0">
              <a:srgbClr val="0891B2">
                <a:alpha val="18000"/>
              </a:srgbClr>
            </a:outerShdw>
          </a:effectLst>
        </p:spPr>
      </p:sp>
      <p:sp>
        <p:nvSpPr>
          <p:cNvPr id="24" name="Shape 20"/>
          <p:cNvSpPr/>
          <p:nvPr>
            <p:custDataLst>
              <p:tags r:id="rId14"/>
            </p:custDataLst>
          </p:nvPr>
        </p:nvSpPr>
        <p:spPr>
          <a:xfrm>
            <a:off x="6236208" y="3127248"/>
            <a:ext cx="2331720" cy="320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6345936" y="3246120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>
            <p:custDataLst>
              <p:tags r:id="rId17"/>
            </p:custDataLst>
          </p:nvPr>
        </p:nvSpPr>
        <p:spPr>
          <a:xfrm>
            <a:off x="6803136" y="3182112"/>
            <a:ext cx="1664208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Trebuchet MS" panose="020B0603020202020204" pitchFamily="34" charset="0"/>
                <a:ea typeface="Trebuchet MS" panose="020B0603020202020204" pitchFamily="34" charset="-122"/>
                <a:cs typeface="Trebuchet MS" panose="020B0603020202020204" pitchFamily="34" charset="-120"/>
              </a:rPr>
              <a:t>Email</a:t>
            </a:r>
            <a:endParaRPr lang="en-US" sz="1050" dirty="0"/>
          </a:p>
        </p:txBody>
      </p:sp>
      <p:sp>
        <p:nvSpPr>
          <p:cNvPr id="27" name="Text 22"/>
          <p:cNvSpPr/>
          <p:nvPr>
            <p:custDataLst>
              <p:tags r:id="rId18"/>
            </p:custDataLst>
          </p:nvPr>
        </p:nvSpPr>
        <p:spPr>
          <a:xfrm>
            <a:off x="6803136" y="3456432"/>
            <a:ext cx="1682496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rosesolanki29@email.com</a:t>
            </a:r>
            <a:endParaRPr lang="en-US" sz="950" dirty="0"/>
          </a:p>
        </p:txBody>
      </p:sp>
      <p:sp>
        <p:nvSpPr>
          <p:cNvPr id="28" name="Shape 23"/>
          <p:cNvSpPr/>
          <p:nvPr/>
        </p:nvSpPr>
        <p:spPr>
          <a:xfrm>
            <a:off x="2286000" y="4224528"/>
            <a:ext cx="4572000" cy="310896"/>
          </a:xfrm>
          <a:prstGeom prst="rect">
            <a:avLst/>
          </a:prstGeom>
          <a:solidFill>
            <a:srgbClr val="5B21B6">
              <a:alpha val="70000"/>
            </a:srgbClr>
          </a:solidFill>
          <a:ln w="6350">
            <a:solidFill>
              <a:srgbClr val="A78BFA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2286000" y="4233672"/>
            <a:ext cx="45720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A78BF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🏆  Portfolio Project  ·  Open to Internship &amp; Full-Time Opportunities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5B21B6"/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365760" y="4764024"/>
            <a:ext cx="84124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4B5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Zepto 360° Business Analytics  ·  Power BI Portfolio Project  ·  2024</a:t>
            </a:r>
            <a:endParaRPr lang="en-US" sz="9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2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3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4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5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6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7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8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9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10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11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12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13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14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ags/tag15.xml><?xml version="1.0" encoding="utf-8"?>
<p:tagLst xmlns:p="http://schemas.openxmlformats.org/presentationml/2006/main">
  <p:tag name="KSO_WM_DIAGRAM_VIRTUALLY_FRAME" val="{&quot;height&quot;:75.6,&quot;left&quot;:99.36,&quot;top&quot;:246.24,&quot;width&quot;:575.28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9012</Words>
  <Application>WPS Presentation</Application>
  <PresentationFormat>On-screen Show (16:9)</PresentationFormat>
  <Paragraphs>651</Paragraphs>
  <Slides>18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41" baseType="lpstr">
      <vt:lpstr>Arial</vt:lpstr>
      <vt:lpstr>SimSun</vt:lpstr>
      <vt:lpstr>Wingdings</vt:lpstr>
      <vt:lpstr>Arial Black</vt:lpstr>
      <vt:lpstr>Arial Black</vt:lpstr>
      <vt:lpstr>Arial Black</vt:lpstr>
      <vt:lpstr>Calibri</vt:lpstr>
      <vt:lpstr>Calibri</vt:lpstr>
      <vt:lpstr>Calibri</vt:lpstr>
      <vt:lpstr>Trebuchet MS</vt:lpstr>
      <vt:lpstr>Trebuchet MS</vt:lpstr>
      <vt:lpstr>Trebuchet MS</vt:lpstr>
      <vt:lpstr>Arial</vt:lpstr>
      <vt:lpstr>Arial</vt:lpstr>
      <vt:lpstr>Georgia</vt:lpstr>
      <vt:lpstr>Georgia</vt:lpstr>
      <vt:lpstr>Georgia</vt:lpstr>
      <vt:lpstr>Consolas</vt:lpstr>
      <vt:lpstr>Consolas</vt:lpstr>
      <vt:lpstr>Consolas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Zepto 360° Business Analytics Dashboard</dc:title>
  <dc:creator>PptxGenJS</dc:creator>
  <dc:subject>PptxGenJS Presentation</dc:subject>
  <cp:lastModifiedBy>Roz Rajak</cp:lastModifiedBy>
  <cp:revision>6</cp:revision>
  <dcterms:created xsi:type="dcterms:W3CDTF">2026-05-22T08:56:00Z</dcterms:created>
  <dcterms:modified xsi:type="dcterms:W3CDTF">2026-05-22T19:59:04Z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B0C808B75B6A454EA1F066C7CC8E8592_12</vt:lpwstr>
  </property>
  <property fmtid="{D5CDD505-2E9C-101B-9397-08002B2CF9AE}" pid="3" name="KSOProductBuildVer">
    <vt:lpwstr>2057-12.2.0.23202</vt:lpwstr>
  </property>
</Properties>
</file>